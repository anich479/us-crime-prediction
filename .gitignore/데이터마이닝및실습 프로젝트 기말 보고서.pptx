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6" r:id="rId1"/>
  </p:sldMasterIdLst>
  <p:sldIdLst>
    <p:sldId id="256" r:id="rId2"/>
    <p:sldId id="257" r:id="rId3"/>
    <p:sldId id="258" r:id="rId4"/>
    <p:sldId id="259" r:id="rId5"/>
    <p:sldId id="260" r:id="rId6"/>
    <p:sldId id="263" r:id="rId7"/>
    <p:sldId id="264" r:id="rId8"/>
    <p:sldId id="265" r:id="rId9"/>
    <p:sldId id="266" r:id="rId10"/>
    <p:sldId id="272" r:id="rId11"/>
    <p:sldId id="267" r:id="rId12"/>
    <p:sldId id="268" r:id="rId13"/>
    <p:sldId id="271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87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7200" baseline="0">
                <a:solidFill>
                  <a:schemeClr val="tx1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1872" y="4800600"/>
            <a:ext cx="9418320" cy="1691640"/>
          </a:xfrm>
        </p:spPr>
        <p:txBody>
          <a:bodyPr>
            <a:normAutofit/>
          </a:bodyPr>
          <a:lstStyle>
            <a:lvl1pPr marL="0" indent="0" algn="l">
              <a:buNone/>
              <a:defRPr sz="2200" baseline="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fld id="{E4920C33-8C76-4CDD-8CA9-B6542903B2DC}" type="datetimeFigureOut">
              <a:rPr lang="ko-KR" altLang="en-US" smtClean="0"/>
              <a:t>2025-06-15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fld id="{D58A0329-9706-4B64-9925-CD1AC62444D1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22928632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20C33-8C76-4CDD-8CA9-B6542903B2DC}" type="datetimeFigureOut">
              <a:rPr lang="ko-KR" altLang="en-US" smtClean="0"/>
              <a:t>2025-06-15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8A0329-9706-4B64-9925-CD1AC62444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9841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7200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4800600"/>
            <a:ext cx="9418320" cy="1691640"/>
          </a:xfrm>
        </p:spPr>
        <p:txBody>
          <a:bodyPr anchor="t">
            <a:normAutofit/>
          </a:bodyPr>
          <a:lstStyle>
            <a:lvl1pPr marL="0" indent="0">
              <a:buNone/>
              <a:defRPr sz="2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20C33-8C76-4CDD-8CA9-B6542903B2DC}" type="datetimeFigureOut">
              <a:rPr lang="ko-KR" altLang="en-US" smtClean="0"/>
              <a:t>2025-06-15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8A0329-9706-4B64-9925-CD1AC62444D1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813029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61872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6480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20C33-8C76-4CDD-8CA9-B6542903B2DC}" type="datetimeFigureOut">
              <a:rPr lang="ko-KR" altLang="en-US" smtClean="0"/>
              <a:t>2025-06-15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8A0329-9706-4B64-9925-CD1AC62444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69603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61872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26480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lang="en-US" sz="2000" b="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Tx/>
              <a:buNone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26480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20C33-8C76-4CDD-8CA9-B6542903B2DC}" type="datetimeFigureOut">
              <a:rPr lang="ko-KR" altLang="en-US" smtClean="0"/>
              <a:t>2025-06-15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8A0329-9706-4B64-9925-CD1AC62444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233374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20C33-8C76-4CDD-8CA9-B6542903B2DC}" type="datetimeFigureOut">
              <a:rPr lang="ko-KR" altLang="en-US" smtClean="0"/>
              <a:t>2025-06-15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8A0329-9706-4B64-9925-CD1AC62444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17270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20C33-8C76-4CDD-8CA9-B6542903B2DC}" type="datetimeFigureOut">
              <a:rPr lang="ko-KR" altLang="en-US" smtClean="0"/>
              <a:t>2025-06-15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8A0329-9706-4B64-9925-CD1AC62444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22494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200400" cy="1600197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04267" y="685800"/>
            <a:ext cx="6079066" cy="54864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99734"/>
            <a:ext cx="3200400" cy="38100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800"/>
              </a:spcBef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20C33-8C76-4CDD-8CA9-B6542903B2DC}" type="datetimeFigureOut">
              <a:rPr lang="ko-KR" altLang="en-US" smtClean="0"/>
              <a:t>2025-06-15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8A0329-9706-4B64-9925-CD1AC62444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93020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5105400"/>
            <a:ext cx="11292840" cy="1752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257800"/>
            <a:ext cx="9982200" cy="914400"/>
          </a:xfrm>
        </p:spPr>
        <p:txBody>
          <a:bodyPr anchor="b">
            <a:normAutofit/>
          </a:bodyPr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1292840" cy="5128923"/>
          </a:xfrm>
          <a:solidFill>
            <a:schemeClr val="accent1"/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6108589"/>
            <a:ext cx="9982200" cy="5970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3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20C33-8C76-4CDD-8CA9-B6542903B2DC}" type="datetimeFigureOut">
              <a:rPr lang="ko-KR" altLang="en-US" smtClean="0"/>
              <a:t>2025-06-15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8A0329-9706-4B64-9925-CD1AC62444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445250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20C33-8C76-4CDD-8CA9-B6542903B2DC}" type="datetimeFigureOut">
              <a:rPr lang="ko-KR" altLang="en-US" smtClean="0"/>
              <a:t>2025-06-15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8A0329-9706-4B64-9925-CD1AC62444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8242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48700" y="381000"/>
            <a:ext cx="2476500" cy="5897562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381000"/>
            <a:ext cx="7734300" cy="5897562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20C33-8C76-4CDD-8CA9-B6542903B2DC}" type="datetimeFigureOut">
              <a:rPr lang="ko-KR" altLang="en-US" smtClean="0"/>
              <a:t>2025-06-15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8A0329-9706-4B64-9925-CD1AC62444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59680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10797542" y="998537"/>
            <a:ext cx="1904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fld id="{E4920C33-8C76-4CDD-8CA9-B6542903B2DC}" type="datetimeFigureOut">
              <a:rPr lang="ko-KR" altLang="en-US" smtClean="0"/>
              <a:t>2025-06-15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9959341" y="4046537"/>
            <a:ext cx="358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</p:spPr>
        <p:txBody>
          <a:bodyPr vert="horz" lIns="45720" tIns="45720" rIns="45720" bIns="45720" rtlCol="0" anchor="ctr">
            <a:normAutofit/>
          </a:bodyPr>
          <a:lstStyle>
            <a:lvl1pPr algn="ctr">
              <a:defRPr sz="36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D58A0329-9706-4B64-9925-CD1AC62444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66462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1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1800" kern="1200" spc="1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1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1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1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1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1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1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1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1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archive.ics.uci.edu/dataset/183/communities+and+crime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BA83DF4-C253-699D-058E-7E67BDD707A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algn="ctr"/>
            <a:r>
              <a:rPr lang="ko-KR" altLang="en-US" sz="4000" dirty="0"/>
              <a:t>미국 지역 특성을 활용한  </a:t>
            </a:r>
            <a:br>
              <a:rPr lang="en-US" altLang="ko-KR" sz="4000" dirty="0"/>
            </a:br>
            <a:r>
              <a:rPr lang="ko-KR" altLang="en-US" sz="4000" dirty="0"/>
              <a:t>폭력 </a:t>
            </a:r>
            <a:r>
              <a:rPr lang="ko-KR" altLang="en-US" sz="4000" dirty="0" err="1"/>
              <a:t>범죄율</a:t>
            </a:r>
            <a:r>
              <a:rPr lang="ko-KR" altLang="en-US" sz="4000" dirty="0"/>
              <a:t> 예측 분석</a:t>
            </a:r>
            <a:br>
              <a:rPr lang="en-US" altLang="ko-KR" dirty="0"/>
            </a:b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7B19902-2D24-C35E-DCC0-D6E29CA06E9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/>
            <a:r>
              <a:rPr lang="ko-KR" altLang="en-US" dirty="0" err="1"/>
              <a:t>김이찬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927613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9879014-99F2-23FE-B45D-31A223123B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3600" dirty="0"/>
              <a:t>목차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8FF7270-211A-20FE-918E-05E7634D0C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데이터셋 개요</a:t>
            </a:r>
            <a:endParaRPr lang="en-US" altLang="ko-KR" dirty="0"/>
          </a:p>
          <a:p>
            <a:r>
              <a:rPr lang="ko-KR" altLang="en-US" dirty="0"/>
              <a:t>데이터 </a:t>
            </a:r>
            <a:r>
              <a:rPr lang="ko-KR" altLang="en-US" dirty="0" err="1"/>
              <a:t>전처리</a:t>
            </a:r>
            <a:endParaRPr lang="en-US" altLang="ko-KR" dirty="0"/>
          </a:p>
          <a:p>
            <a:r>
              <a:rPr lang="ko-KR" altLang="en-US" dirty="0"/>
              <a:t>모델 적용</a:t>
            </a:r>
            <a:endParaRPr lang="en-US" altLang="ko-KR" dirty="0"/>
          </a:p>
          <a:p>
            <a:r>
              <a:rPr lang="ko-KR" altLang="en-US" dirty="0"/>
              <a:t>결과 해석</a:t>
            </a:r>
            <a:endParaRPr lang="en-US" altLang="ko-KR" dirty="0"/>
          </a:p>
          <a:p>
            <a:r>
              <a:rPr lang="ko-KR" altLang="en-US" dirty="0"/>
              <a:t>시사점 및 소감</a:t>
            </a:r>
            <a:endParaRPr lang="en-US" altLang="ko-KR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049955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D218BD-CF6F-2BDA-6D80-2901C8FA18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1FE672-4B9D-9DCE-9572-0BACE17296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3600" dirty="0"/>
              <a:t>데이터셋 개요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A1BE054-588F-D211-F2C9-623CB35AEA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ko-KR" dirty="0"/>
              <a:t>Dataset: Communities and Crime dataset</a:t>
            </a:r>
          </a:p>
          <a:p>
            <a:r>
              <a:rPr lang="ko-KR" altLang="en-US" dirty="0"/>
              <a:t>출처</a:t>
            </a:r>
            <a:r>
              <a:rPr lang="en-US" altLang="ko-KR" dirty="0"/>
              <a:t>: </a:t>
            </a:r>
            <a:r>
              <a:rPr lang="ko-KR" altLang="ko-KR" sz="180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sz="1800" u="sng" dirty="0">
                <a:solidFill>
                  <a:srgbClr val="467886"/>
                </a:solidFill>
                <a:effectLst/>
                <a:ea typeface="맑은 고딕" panose="020B0503020000020004" pitchFamily="50" charset="-127"/>
                <a:cs typeface="Times New Roman" panose="02020603050405020304" pitchFamily="18" charset="0"/>
                <a:hlinkClick r:id="rId2"/>
              </a:rPr>
              <a:t>https://archive.ics.uci.edu/dataset/183/communities+and+crime</a:t>
            </a:r>
            <a:endParaRPr lang="en-US" altLang="ko-KR" sz="1800" u="sng" dirty="0">
              <a:solidFill>
                <a:srgbClr val="467886"/>
              </a:solidFill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r>
              <a:rPr lang="ko-KR" altLang="en-US" sz="1800" b="0" i="0" dirty="0">
                <a:solidFill>
                  <a:srgbClr val="303030"/>
                </a:solidFill>
                <a:effectLst/>
                <a:latin typeface="ui-sans-serif"/>
              </a:rPr>
              <a:t>해당 데이터는 미국 내 지역 사회</a:t>
            </a:r>
            <a:r>
              <a:rPr lang="ko-KR" altLang="en-US" dirty="0">
                <a:solidFill>
                  <a:srgbClr val="303030"/>
                </a:solidFill>
                <a:latin typeface="ui-sans-serif"/>
              </a:rPr>
              <a:t>의</a:t>
            </a:r>
            <a:r>
              <a:rPr lang="ko-KR" altLang="en-US" sz="1800" b="0" i="0" dirty="0">
                <a:solidFill>
                  <a:srgbClr val="303030"/>
                </a:solidFill>
                <a:effectLst/>
                <a:latin typeface="ui-sans-serif"/>
              </a:rPr>
              <a:t> </a:t>
            </a:r>
            <a:r>
              <a:rPr lang="en-US" altLang="ko-KR" sz="1800" b="0" i="0" dirty="0">
                <a:solidFill>
                  <a:srgbClr val="303030"/>
                </a:solidFill>
                <a:effectLst/>
                <a:latin typeface="ui-sans-serif"/>
              </a:rPr>
              <a:t>1990</a:t>
            </a:r>
            <a:r>
              <a:rPr lang="ko-KR" altLang="en-US" sz="1800" b="0" i="0" dirty="0">
                <a:solidFill>
                  <a:srgbClr val="303030"/>
                </a:solidFill>
                <a:effectLst/>
                <a:latin typeface="ui-sans-serif"/>
              </a:rPr>
              <a:t>년 미국 인구조사의 사회경제적 데이터</a:t>
            </a:r>
            <a:r>
              <a:rPr lang="en-US" altLang="ko-KR" sz="1800" b="0" i="0" dirty="0">
                <a:solidFill>
                  <a:srgbClr val="303030"/>
                </a:solidFill>
                <a:effectLst/>
                <a:latin typeface="ui-sans-serif"/>
              </a:rPr>
              <a:t>, 1990</a:t>
            </a:r>
            <a:r>
              <a:rPr lang="ko-KR" altLang="en-US" sz="1800" b="0" i="0" dirty="0">
                <a:solidFill>
                  <a:srgbClr val="303030"/>
                </a:solidFill>
                <a:effectLst/>
                <a:latin typeface="ui-sans-serif"/>
              </a:rPr>
              <a:t>년 미국 </a:t>
            </a:r>
            <a:r>
              <a:rPr lang="en-US" altLang="ko-KR" sz="1800" b="0" i="0" dirty="0">
                <a:solidFill>
                  <a:srgbClr val="303030"/>
                </a:solidFill>
                <a:effectLst/>
                <a:latin typeface="ui-sans-serif"/>
              </a:rPr>
              <a:t>LEMAS </a:t>
            </a:r>
            <a:r>
              <a:rPr lang="ko-KR" altLang="en-US" sz="1800" b="0" i="0" dirty="0">
                <a:solidFill>
                  <a:srgbClr val="303030"/>
                </a:solidFill>
                <a:effectLst/>
                <a:latin typeface="ui-sans-serif"/>
              </a:rPr>
              <a:t>조사의 법 집행 데이터</a:t>
            </a:r>
            <a:r>
              <a:rPr lang="en-US" altLang="ko-KR" sz="1800" b="0" i="0" dirty="0">
                <a:solidFill>
                  <a:srgbClr val="303030"/>
                </a:solidFill>
                <a:effectLst/>
                <a:latin typeface="ui-sans-serif"/>
              </a:rPr>
              <a:t>, </a:t>
            </a:r>
            <a:r>
              <a:rPr lang="ko-KR" altLang="en-US" sz="1800" b="0" i="0" dirty="0">
                <a:solidFill>
                  <a:srgbClr val="303030"/>
                </a:solidFill>
                <a:effectLst/>
                <a:latin typeface="ui-sans-serif"/>
              </a:rPr>
              <a:t>그리고 </a:t>
            </a:r>
            <a:r>
              <a:rPr lang="en-US" altLang="ko-KR" sz="1800" b="0" i="0" dirty="0">
                <a:solidFill>
                  <a:srgbClr val="303030"/>
                </a:solidFill>
                <a:effectLst/>
                <a:latin typeface="ui-sans-serif"/>
              </a:rPr>
              <a:t>1995</a:t>
            </a:r>
            <a:r>
              <a:rPr lang="ko-KR" altLang="en-US" sz="1800" b="0" i="0" dirty="0">
                <a:solidFill>
                  <a:srgbClr val="303030"/>
                </a:solidFill>
                <a:effectLst/>
                <a:latin typeface="ui-sans-serif"/>
              </a:rPr>
              <a:t>년 </a:t>
            </a:r>
            <a:r>
              <a:rPr lang="en-US" altLang="ko-KR" sz="1800" b="0" i="0" dirty="0">
                <a:solidFill>
                  <a:srgbClr val="303030"/>
                </a:solidFill>
                <a:effectLst/>
                <a:latin typeface="ui-sans-serif"/>
              </a:rPr>
              <a:t>FBI UCR</a:t>
            </a:r>
            <a:r>
              <a:rPr lang="ko-KR" altLang="en-US" sz="1800" b="0" i="0" dirty="0">
                <a:solidFill>
                  <a:srgbClr val="303030"/>
                </a:solidFill>
                <a:effectLst/>
                <a:latin typeface="ui-sans-serif"/>
              </a:rPr>
              <a:t>의 범죄 데이터를 결합한 것</a:t>
            </a:r>
            <a:endParaRPr lang="en-US" altLang="ko-KR" sz="1800" b="0" i="0" dirty="0">
              <a:solidFill>
                <a:srgbClr val="303030"/>
              </a:solidFill>
              <a:effectLst/>
              <a:latin typeface="ui-sans-serif"/>
            </a:endParaRPr>
          </a:p>
          <a:p>
            <a:r>
              <a:rPr lang="ko-KR" altLang="en-US" sz="1800" dirty="0">
                <a:solidFill>
                  <a:srgbClr val="303030"/>
                </a:solidFill>
                <a:latin typeface="ui-sans-serif"/>
              </a:rPr>
              <a:t>모</a:t>
            </a:r>
            <a:r>
              <a:rPr lang="ko-KR" altLang="en-US" dirty="0">
                <a:solidFill>
                  <a:srgbClr val="303030"/>
                </a:solidFill>
                <a:latin typeface="ui-sans-serif"/>
              </a:rPr>
              <a:t>든</a:t>
            </a:r>
            <a:r>
              <a:rPr lang="ko-KR" altLang="en-US" sz="1800" dirty="0">
                <a:solidFill>
                  <a:srgbClr val="303030"/>
                </a:solidFill>
                <a:latin typeface="ui-sans-serif"/>
              </a:rPr>
              <a:t> 수치형 변수 정규화</a:t>
            </a:r>
            <a:r>
              <a:rPr lang="en-US" altLang="ko-KR" sz="1800" dirty="0">
                <a:solidFill>
                  <a:srgbClr val="303030"/>
                </a:solidFill>
                <a:latin typeface="ui-sans-serif"/>
              </a:rPr>
              <a:t>(equal-interval binning)</a:t>
            </a:r>
          </a:p>
          <a:p>
            <a:r>
              <a:rPr lang="ko-KR" altLang="en-US" dirty="0">
                <a:solidFill>
                  <a:srgbClr val="303030"/>
                </a:solidFill>
                <a:latin typeface="ui-sans-serif"/>
              </a:rPr>
              <a:t>일부 커뮤니티는 범죄 데이터 누락으로 제외</a:t>
            </a:r>
            <a:endParaRPr lang="en-US" altLang="ko-KR" dirty="0">
              <a:solidFill>
                <a:srgbClr val="303030"/>
              </a:solidFill>
              <a:latin typeface="ui-sans-serif"/>
            </a:endParaRPr>
          </a:p>
          <a:p>
            <a:r>
              <a:rPr lang="en-US" altLang="ko-KR" sz="1800" dirty="0">
                <a:solidFill>
                  <a:srgbClr val="303030"/>
                </a:solidFill>
                <a:latin typeface="ui-sans-serif"/>
              </a:rPr>
              <a:t>LEMAS </a:t>
            </a:r>
            <a:r>
              <a:rPr lang="ko-KR" altLang="en-US" sz="1800" dirty="0">
                <a:solidFill>
                  <a:srgbClr val="303030"/>
                </a:solidFill>
                <a:latin typeface="ui-sans-serif"/>
              </a:rPr>
              <a:t>조사는 경찰관 </a:t>
            </a:r>
            <a:r>
              <a:rPr lang="en-US" altLang="ko-KR" sz="1800" dirty="0">
                <a:solidFill>
                  <a:srgbClr val="303030"/>
                </a:solidFill>
                <a:latin typeface="ui-sans-serif"/>
              </a:rPr>
              <a:t>100</a:t>
            </a:r>
            <a:r>
              <a:rPr lang="ko-KR" altLang="en-US" sz="1800" dirty="0">
                <a:solidFill>
                  <a:srgbClr val="303030"/>
                </a:solidFill>
                <a:latin typeface="ui-sans-serif"/>
              </a:rPr>
              <a:t>명 이상 부서만 전수 조사 </a:t>
            </a:r>
            <a:r>
              <a:rPr lang="en-US" altLang="ko-KR" sz="1800" dirty="0">
                <a:solidFill>
                  <a:srgbClr val="303030"/>
                </a:solidFill>
                <a:latin typeface="ui-sans-serif"/>
              </a:rPr>
              <a:t>-&gt; </a:t>
            </a:r>
            <a:r>
              <a:rPr lang="ko-KR" altLang="en-US" sz="1800" dirty="0">
                <a:solidFill>
                  <a:srgbClr val="303030"/>
                </a:solidFill>
                <a:latin typeface="ui-sans-serif"/>
              </a:rPr>
              <a:t>소규모 커뮤니티의 경찰 데이터 누락</a:t>
            </a:r>
            <a:endParaRPr lang="en-US" altLang="ko-KR" dirty="0">
              <a:solidFill>
                <a:srgbClr val="303030"/>
              </a:solidFill>
              <a:latin typeface="ui-sans-serif"/>
            </a:endParaRPr>
          </a:p>
          <a:p>
            <a:r>
              <a:rPr lang="en-US" altLang="ko-KR" sz="1800" dirty="0">
                <a:solidFill>
                  <a:srgbClr val="303030"/>
                </a:solidFill>
                <a:latin typeface="ui-sans-serif"/>
              </a:rPr>
              <a:t>Instance: 1994</a:t>
            </a:r>
          </a:p>
          <a:p>
            <a:r>
              <a:rPr lang="en-US" altLang="ko-KR" dirty="0">
                <a:solidFill>
                  <a:srgbClr val="303030"/>
                </a:solidFill>
                <a:latin typeface="ui-sans-serif"/>
              </a:rPr>
              <a:t>Features: 127+1</a:t>
            </a:r>
            <a:endParaRPr lang="en-US" altLang="ko-KR" sz="1800" dirty="0">
              <a:solidFill>
                <a:srgbClr val="303030"/>
              </a:solidFill>
              <a:latin typeface="ui-sans-serif"/>
            </a:endParaRPr>
          </a:p>
        </p:txBody>
      </p:sp>
    </p:spTree>
    <p:extLst>
      <p:ext uri="{BB962C8B-B14F-4D97-AF65-F5344CB8AC3E}">
        <p14:creationId xmlns:p14="http://schemas.microsoft.com/office/powerpoint/2010/main" val="21979465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C333AB-5ED1-9238-A9D9-6F9860EE08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BE133BE-4BFA-83B2-A43F-9E75B07E90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3600" dirty="0"/>
              <a:t>주요 변수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D796A56-5BB4-B92C-5E71-02FA75226B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ko-KR" altLang="en-US" dirty="0"/>
              <a:t>예측 변수</a:t>
            </a:r>
            <a:endParaRPr lang="en-US" altLang="ko-KR" dirty="0"/>
          </a:p>
          <a:p>
            <a:r>
              <a:rPr lang="en-US" altLang="ko-KR" dirty="0"/>
              <a:t>population: </a:t>
            </a:r>
            <a:r>
              <a:rPr lang="ko-KR" altLang="en-US" dirty="0"/>
              <a:t>지역</a:t>
            </a:r>
            <a:r>
              <a:rPr lang="en-US" altLang="ko-KR" dirty="0"/>
              <a:t> </a:t>
            </a:r>
            <a:r>
              <a:rPr lang="ko-KR" altLang="en-US" dirty="0"/>
              <a:t>전체 인구 수</a:t>
            </a:r>
            <a:endParaRPr lang="en-US" altLang="ko-KR" dirty="0"/>
          </a:p>
          <a:p>
            <a:r>
              <a:rPr lang="en-US" altLang="ko-KR" dirty="0" err="1"/>
              <a:t>pctUrban</a:t>
            </a:r>
            <a:r>
              <a:rPr lang="en-US" altLang="ko-KR" dirty="0"/>
              <a:t>: </a:t>
            </a:r>
            <a:r>
              <a:rPr lang="ko-KR" altLang="en-US" dirty="0"/>
              <a:t>도시화율</a:t>
            </a:r>
            <a:endParaRPr lang="en-US" altLang="ko-KR" dirty="0"/>
          </a:p>
          <a:p>
            <a:r>
              <a:rPr lang="en-US" altLang="ko-KR" dirty="0" err="1"/>
              <a:t>medIncome</a:t>
            </a:r>
            <a:r>
              <a:rPr lang="en-US" altLang="ko-KR" dirty="0"/>
              <a:t>: </a:t>
            </a:r>
            <a:r>
              <a:rPr lang="ko-KR" altLang="en-US" dirty="0"/>
              <a:t>중간 가구 소득</a:t>
            </a:r>
            <a:endParaRPr lang="en-US" altLang="ko-KR" dirty="0"/>
          </a:p>
          <a:p>
            <a:r>
              <a:rPr lang="en-US" altLang="ko-KR" dirty="0" err="1"/>
              <a:t>pctPopUnderPov</a:t>
            </a:r>
            <a:r>
              <a:rPr lang="en-US" altLang="ko-KR" dirty="0"/>
              <a:t>: </a:t>
            </a:r>
            <a:r>
              <a:rPr lang="ko-KR" altLang="en-US" dirty="0"/>
              <a:t>빈곤선 이하 인구 비율</a:t>
            </a:r>
            <a:r>
              <a:rPr lang="en-US" altLang="ko-KR" dirty="0"/>
              <a:t>(%)</a:t>
            </a:r>
          </a:p>
          <a:p>
            <a:r>
              <a:rPr lang="en-US" altLang="ko-KR" dirty="0" err="1"/>
              <a:t>pctUnemployed</a:t>
            </a:r>
            <a:r>
              <a:rPr lang="en-US" altLang="ko-KR" dirty="0"/>
              <a:t>: </a:t>
            </a:r>
            <a:r>
              <a:rPr lang="ko-KR" altLang="en-US" dirty="0"/>
              <a:t>실업률 </a:t>
            </a:r>
            <a:r>
              <a:rPr lang="en-US" altLang="ko-KR" dirty="0"/>
              <a:t>(%)</a:t>
            </a:r>
          </a:p>
          <a:p>
            <a:r>
              <a:rPr lang="en-US" altLang="ko-KR" dirty="0" err="1"/>
              <a:t>pctNotHSGrad</a:t>
            </a:r>
            <a:r>
              <a:rPr lang="en-US" altLang="ko-KR" dirty="0"/>
              <a:t>: </a:t>
            </a:r>
            <a:r>
              <a:rPr lang="ko-KR" altLang="en-US" dirty="0"/>
              <a:t>고졸 미만 학력 비율 </a:t>
            </a:r>
            <a:r>
              <a:rPr lang="en-US" altLang="ko-KR" dirty="0"/>
              <a:t>(%)</a:t>
            </a:r>
          </a:p>
          <a:p>
            <a:r>
              <a:rPr lang="en-US" altLang="ko-KR" dirty="0" err="1"/>
              <a:t>policPerPop</a:t>
            </a:r>
            <a:r>
              <a:rPr lang="en-US" altLang="ko-KR" dirty="0"/>
              <a:t>: 10</a:t>
            </a:r>
            <a:r>
              <a:rPr lang="ko-KR" altLang="en-US" dirty="0"/>
              <a:t>만 명당 경찰 수</a:t>
            </a:r>
          </a:p>
          <a:p>
            <a:r>
              <a:rPr lang="en-US" altLang="ko-KR" dirty="0" err="1"/>
              <a:t>pctPolicMinor</a:t>
            </a:r>
            <a:r>
              <a:rPr lang="en-US" altLang="ko-KR" dirty="0"/>
              <a:t>: </a:t>
            </a:r>
            <a:r>
              <a:rPr lang="ko-KR" altLang="en-US" dirty="0"/>
              <a:t>경찰 중 소수 인종 비율 </a:t>
            </a:r>
            <a:r>
              <a:rPr lang="en-US" altLang="ko-KR" dirty="0"/>
              <a:t>(%)</a:t>
            </a:r>
          </a:p>
          <a:p>
            <a:endParaRPr lang="en-US" altLang="ko-KR" dirty="0"/>
          </a:p>
          <a:p>
            <a:r>
              <a:rPr lang="ko-KR" altLang="en-US" dirty="0"/>
              <a:t>반응 변수</a:t>
            </a:r>
            <a:r>
              <a:rPr lang="en-US" altLang="ko-KR" dirty="0"/>
              <a:t>: </a:t>
            </a:r>
            <a:r>
              <a:rPr lang="en-US" altLang="ko-KR" dirty="0" err="1"/>
              <a:t>ViolentCrimesPerPop</a:t>
            </a:r>
            <a:r>
              <a:rPr lang="en-US" altLang="ko-KR" dirty="0"/>
              <a:t>: </a:t>
            </a:r>
            <a:r>
              <a:rPr lang="ko-KR" altLang="en-US" dirty="0"/>
              <a:t> </a:t>
            </a:r>
            <a:r>
              <a:rPr lang="en-US" altLang="ko-KR" dirty="0"/>
              <a:t>10</a:t>
            </a:r>
            <a:r>
              <a:rPr lang="ko-KR" altLang="en-US" dirty="0"/>
              <a:t>만 명당 폭력 범죄 발생 수</a:t>
            </a:r>
            <a:r>
              <a:rPr lang="en-US" altLang="ko-KR" dirty="0"/>
              <a:t>(0~1 </a:t>
            </a:r>
            <a:r>
              <a:rPr lang="ko-KR" altLang="en-US" dirty="0"/>
              <a:t>정규화</a:t>
            </a:r>
            <a:r>
              <a:rPr lang="en-US" altLang="ko-KR" dirty="0"/>
              <a:t>)</a:t>
            </a:r>
          </a:p>
          <a:p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7226522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1C9CCF-DDBA-2FBF-70F9-58452059A4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1C393D5-D364-D391-67D5-3DC31AF1AE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3600" dirty="0"/>
              <a:t>데이터 </a:t>
            </a:r>
            <a:r>
              <a:rPr lang="ko-KR" altLang="en-US" sz="3600" dirty="0" err="1"/>
              <a:t>전처리</a:t>
            </a:r>
            <a:endParaRPr lang="ko-KR" altLang="en-US" sz="36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143C321-62D5-F231-5FBD-7E11CC1302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데이터 </a:t>
            </a:r>
            <a:r>
              <a:rPr lang="ko-KR" altLang="en-US" dirty="0" err="1"/>
              <a:t>전처리</a:t>
            </a:r>
            <a:r>
              <a:rPr lang="ko-KR" altLang="en-US" dirty="0"/>
              <a:t> 과정 요약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1. </a:t>
            </a:r>
            <a:r>
              <a:rPr lang="ko-KR" altLang="en-US" dirty="0" err="1"/>
              <a:t>결측치</a:t>
            </a:r>
            <a:r>
              <a:rPr lang="ko-KR" altLang="en-US" dirty="0"/>
              <a:t> 비율 </a:t>
            </a:r>
            <a:r>
              <a:rPr lang="en-US" altLang="ko-KR" dirty="0"/>
              <a:t>20% </a:t>
            </a:r>
            <a:r>
              <a:rPr lang="ko-KR" altLang="en-US" dirty="0"/>
              <a:t>이상인 변수 및 </a:t>
            </a:r>
            <a:r>
              <a:rPr lang="ko-KR" altLang="en-US" dirty="0" err="1"/>
              <a:t>결측치</a:t>
            </a:r>
            <a:r>
              <a:rPr lang="ko-KR" altLang="en-US" dirty="0"/>
              <a:t> 있는 행 제거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=&gt; </a:t>
            </a:r>
            <a:r>
              <a:rPr lang="ko-KR" altLang="en-US" dirty="0"/>
              <a:t>표본 수</a:t>
            </a:r>
            <a:r>
              <a:rPr lang="en-US" altLang="ko-KR" dirty="0"/>
              <a:t>: 1994 -&gt; 1993, </a:t>
            </a:r>
            <a:r>
              <a:rPr lang="ko-KR" altLang="en-US" dirty="0"/>
              <a:t>변수</a:t>
            </a:r>
            <a:r>
              <a:rPr lang="en-US" altLang="ko-KR" dirty="0"/>
              <a:t>: 127 -&gt; 104</a:t>
            </a:r>
          </a:p>
          <a:p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2. Lasso</a:t>
            </a:r>
            <a:r>
              <a:rPr lang="ko-KR" altLang="en-US" dirty="0"/>
              <a:t>를 이용한 변수 선택</a:t>
            </a:r>
            <a:endParaRPr lang="en-US" altLang="ko-KR" dirty="0"/>
          </a:p>
          <a:p>
            <a:r>
              <a:rPr lang="en-US" altLang="ko-KR" dirty="0"/>
              <a:t>lambda min </a:t>
            </a:r>
            <a:r>
              <a:rPr lang="ko-KR" altLang="en-US" dirty="0"/>
              <a:t>기준</a:t>
            </a:r>
            <a:r>
              <a:rPr lang="en-US" altLang="ko-KR" dirty="0"/>
              <a:t>: 89</a:t>
            </a:r>
            <a:r>
              <a:rPr lang="ko-KR" altLang="en-US" dirty="0"/>
              <a:t>개 선택 </a:t>
            </a:r>
            <a:r>
              <a:rPr lang="en-US" altLang="ko-KR" dirty="0"/>
              <a:t>(MSE: 0.0189)</a:t>
            </a:r>
          </a:p>
          <a:p>
            <a:r>
              <a:rPr lang="en-US" altLang="ko-KR" dirty="0"/>
              <a:t>lambda.1se </a:t>
            </a:r>
            <a:r>
              <a:rPr lang="ko-KR" altLang="en-US" dirty="0"/>
              <a:t>기준</a:t>
            </a:r>
            <a:r>
              <a:rPr lang="en-US" altLang="ko-KR" dirty="0"/>
              <a:t>: 15</a:t>
            </a:r>
            <a:r>
              <a:rPr lang="ko-KR" altLang="en-US" dirty="0"/>
              <a:t>개 선택 </a:t>
            </a:r>
            <a:r>
              <a:rPr lang="en-US" altLang="ko-KR" dirty="0"/>
              <a:t>(MSE: 0.0198)  </a:t>
            </a:r>
            <a:r>
              <a:rPr lang="ko-KR" altLang="en-US" dirty="0"/>
              <a:t>☜</a:t>
            </a:r>
            <a:endParaRPr lang="en-US" altLang="ko-KR" dirty="0"/>
          </a:p>
          <a:p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3. State, Community name </a:t>
            </a:r>
            <a:r>
              <a:rPr lang="ko-KR" altLang="en-US" dirty="0"/>
              <a:t>등 반응 변수와 관련 없는 변수 추가 제거</a:t>
            </a:r>
            <a:endParaRPr lang="en-US" altLang="ko-KR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347327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0EE899-4544-65EA-2968-E8B10FFADB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BDD23E2-7883-9B18-021D-CF7DAB004E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3600" dirty="0"/>
              <a:t>데이터 </a:t>
            </a:r>
            <a:r>
              <a:rPr lang="ko-KR" altLang="en-US" sz="3600" dirty="0" err="1"/>
              <a:t>전처리</a:t>
            </a:r>
            <a:endParaRPr lang="ko-KR" altLang="en-US" sz="36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6E5CB91-3EF0-B651-7028-17EEAB99FC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최종 선택 변수</a:t>
            </a:r>
            <a:r>
              <a:rPr lang="en-US" altLang="ko-KR" dirty="0"/>
              <a:t>: 11</a:t>
            </a:r>
            <a:r>
              <a:rPr lang="ko-KR" altLang="en-US" dirty="0"/>
              <a:t>개 </a:t>
            </a:r>
            <a:r>
              <a:rPr lang="en-US" altLang="ko-KR" dirty="0"/>
              <a:t>(+</a:t>
            </a:r>
            <a:r>
              <a:rPr lang="ko-KR" altLang="en-US" dirty="0"/>
              <a:t>반응변수</a:t>
            </a:r>
            <a:r>
              <a:rPr lang="en-US" altLang="ko-KR" dirty="0"/>
              <a:t>: </a:t>
            </a:r>
            <a:r>
              <a:rPr lang="en-US" altLang="ko-KR" dirty="0" err="1"/>
              <a:t>ViolentCrimePerPop</a:t>
            </a:r>
            <a:r>
              <a:rPr lang="en-US" altLang="ko-KR" dirty="0"/>
              <a:t>)</a:t>
            </a:r>
          </a:p>
          <a:p>
            <a:pPr marL="0" indent="0">
              <a:buNone/>
            </a:pPr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57A5C9A5-3773-E104-373C-182AA90B5F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605818"/>
              </p:ext>
            </p:extLst>
          </p:nvPr>
        </p:nvGraphicFramePr>
        <p:xfrm>
          <a:off x="1495552" y="2206721"/>
          <a:ext cx="812800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3536018038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691096209"/>
                    </a:ext>
                  </a:extLst>
                </a:gridCol>
              </a:tblGrid>
              <a:tr h="34853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err="1"/>
                        <a:t>변수명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설명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3472631"/>
                  </a:ext>
                </a:extLst>
              </a:tr>
              <a:tr h="34853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/>
                        <a:t>racePctWhite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백인 인구 비율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3172631"/>
                  </a:ext>
                </a:extLst>
              </a:tr>
              <a:tr h="34853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/>
                        <a:t>pctUrban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도시 인구 비율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0434709"/>
                  </a:ext>
                </a:extLst>
              </a:tr>
              <a:tr h="34853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/>
                        <a:t>malePctDivorce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이혼 남성 비율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082696"/>
                  </a:ext>
                </a:extLst>
              </a:tr>
              <a:tr h="34853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pctKids2Par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양부모 가정 아동 비율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7507826"/>
                  </a:ext>
                </a:extLst>
              </a:tr>
              <a:tr h="34853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/>
                        <a:t>pctWorkMom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일하는 어머니 비율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2078694"/>
                  </a:ext>
                </a:extLst>
              </a:tr>
              <a:tr h="34853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/>
                        <a:t>pctIlleg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혼외 출산 아동 비율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0029943"/>
                  </a:ext>
                </a:extLst>
              </a:tr>
              <a:tr h="34853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/>
                        <a:t>pctPersDenseHous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과밀 주택 거주 비율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1781397"/>
                  </a:ext>
                </a:extLst>
              </a:tr>
              <a:tr h="34853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/>
                        <a:t>housVacant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공실 주택 수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345542"/>
                  </a:ext>
                </a:extLst>
              </a:tr>
              <a:tr h="34853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/>
                        <a:t>pctHousOccup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주택 점유율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3976933"/>
                  </a:ext>
                </a:extLst>
              </a:tr>
              <a:tr h="34853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/>
                        <a:t>pctVacantBoarded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/>
                        <a:t>보드 처리된 폐가 비율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8954494"/>
                  </a:ext>
                </a:extLst>
              </a:tr>
              <a:tr h="34853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/>
                        <a:t>numStreet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거리 노숙자 수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21008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829290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2C76F4-490B-18EE-390C-5AB6BB9392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9AB4052-4132-D1CC-F888-64306659B6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600" dirty="0"/>
              <a:t>KNN Regression</a:t>
            </a:r>
            <a:endParaRPr lang="ko-KR" altLang="en-US" sz="36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2086C79-BE6F-81BA-1C6F-38BCE99B33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데이터 분할</a:t>
            </a:r>
            <a:r>
              <a:rPr lang="en-US" altLang="ko-KR" dirty="0"/>
              <a:t>: 7:3</a:t>
            </a:r>
          </a:p>
          <a:p>
            <a:r>
              <a:rPr lang="ko-KR" altLang="en-US" dirty="0"/>
              <a:t>최적</a:t>
            </a:r>
            <a:r>
              <a:rPr lang="en-US" altLang="ko-KR" dirty="0"/>
              <a:t> k</a:t>
            </a:r>
            <a:r>
              <a:rPr lang="ko-KR" altLang="en-US" dirty="0"/>
              <a:t>값 튜닝 </a:t>
            </a:r>
            <a:r>
              <a:rPr lang="en-US" altLang="ko-KR" dirty="0"/>
              <a:t>(RMSE </a:t>
            </a:r>
            <a:r>
              <a:rPr lang="ko-KR" altLang="en-US" dirty="0"/>
              <a:t>기준</a:t>
            </a:r>
            <a:r>
              <a:rPr lang="en-US" altLang="ko-KR" dirty="0"/>
              <a:t>)</a:t>
            </a:r>
          </a:p>
          <a:p>
            <a:r>
              <a:rPr lang="ko-KR" altLang="en-US" dirty="0"/>
              <a:t>최적 </a:t>
            </a:r>
            <a:r>
              <a:rPr lang="en-US" altLang="ko-KR" dirty="0"/>
              <a:t>k = 21</a:t>
            </a:r>
          </a:p>
          <a:p>
            <a:endParaRPr lang="en-US" altLang="ko-KR" dirty="0"/>
          </a:p>
          <a:p>
            <a:r>
              <a:rPr lang="ko-KR" altLang="en-US" dirty="0"/>
              <a:t>예측 성능 </a:t>
            </a:r>
            <a:endParaRPr lang="en-US" altLang="ko-KR" dirty="0"/>
          </a:p>
          <a:p>
            <a:r>
              <a:rPr lang="en-US" altLang="ko-KR" dirty="0"/>
              <a:t>RMSE = 0.1296</a:t>
            </a:r>
          </a:p>
          <a:p>
            <a:r>
              <a:rPr lang="en-US" altLang="ko-KR" dirty="0"/>
              <a:t>R² = 0.6782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41B51ACB-F443-E46F-20E5-6DC46663F0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9552" y="1405322"/>
            <a:ext cx="4783871" cy="4516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35030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6BD323-CFEB-05E3-3D27-A7CC645A66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FEFD802-8033-EF5A-EC06-3B4DD67D28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600" dirty="0"/>
              <a:t>Linear </a:t>
            </a:r>
            <a:r>
              <a:rPr lang="en-US" altLang="ko-KR" sz="3600" dirty="0" err="1"/>
              <a:t>Regrssion</a:t>
            </a:r>
            <a:endParaRPr lang="ko-KR" altLang="en-US" sz="36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51FD8B5-F5AE-26E3-38A8-109F526E51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Lasso</a:t>
            </a:r>
            <a:r>
              <a:rPr lang="ko-KR" altLang="en-US" dirty="0"/>
              <a:t>를</a:t>
            </a:r>
            <a:r>
              <a:rPr lang="en-US" altLang="ko-KR" dirty="0"/>
              <a:t> </a:t>
            </a:r>
            <a:r>
              <a:rPr lang="ko-KR" altLang="en-US" dirty="0"/>
              <a:t>통해 선택된 변수 </a:t>
            </a:r>
            <a:r>
              <a:rPr lang="en-US" altLang="ko-KR" dirty="0"/>
              <a:t>11</a:t>
            </a:r>
            <a:r>
              <a:rPr lang="ko-KR" altLang="en-US" dirty="0"/>
              <a:t>개로 선형 모델 적합</a:t>
            </a:r>
            <a:endParaRPr lang="en-US" altLang="ko-KR" dirty="0"/>
          </a:p>
          <a:p>
            <a:endParaRPr lang="ko-KR" altLang="en-US" dirty="0"/>
          </a:p>
          <a:p>
            <a:r>
              <a:rPr lang="ko-KR" altLang="en-US" dirty="0"/>
              <a:t>전체적인 폭력 범죄율의 경향은 잘 예측하였으나</a:t>
            </a:r>
            <a:r>
              <a:rPr lang="en-US" altLang="ko-KR" dirty="0"/>
              <a:t>,</a:t>
            </a:r>
          </a:p>
          <a:p>
            <a:r>
              <a:rPr lang="ko-KR" altLang="en-US" dirty="0"/>
              <a:t>극단적인 값을 예측하는 데에는 한계를 보임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예측 성능</a:t>
            </a:r>
            <a:endParaRPr lang="en-US" altLang="ko-KR" dirty="0"/>
          </a:p>
          <a:p>
            <a:r>
              <a:rPr lang="en-US" altLang="ko-KR" dirty="0"/>
              <a:t>RMSE = 0.1267</a:t>
            </a:r>
          </a:p>
          <a:p>
            <a:r>
              <a:rPr lang="en-US" altLang="ko-KR" dirty="0"/>
              <a:t>R² = 0.6925</a:t>
            </a:r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57719B62-D57E-0E9B-9C38-8EF83F5655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3600" y="840005"/>
            <a:ext cx="3716528" cy="2812977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79F9DCC4-F5C5-352F-C384-BABD1797D8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8192" y="3790460"/>
            <a:ext cx="3471044" cy="2974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97013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BF01C3-A9AD-8ECB-507F-0844F9A837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329917A-0DDB-6C0B-1E76-89D7278C84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600" dirty="0"/>
              <a:t>Regression Tree</a:t>
            </a:r>
            <a:endParaRPr lang="ko-KR" altLang="en-US" sz="36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18FDB8F-0653-C6E4-7ADF-A5C7E8EC96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ko-KR" altLang="en-US" dirty="0"/>
              <a:t>기본 트리 모델 성능 </a:t>
            </a:r>
            <a:r>
              <a:rPr lang="en-US" altLang="ko-KR" dirty="0"/>
              <a:t>(cp = 0.01)</a:t>
            </a:r>
          </a:p>
          <a:p>
            <a:r>
              <a:rPr lang="en-US" altLang="ko-KR" dirty="0"/>
              <a:t>RMSE = 0.1453</a:t>
            </a:r>
          </a:p>
          <a:p>
            <a:r>
              <a:rPr lang="en-US" altLang="ko-KR" dirty="0"/>
              <a:t>R² = 0.5957</a:t>
            </a:r>
          </a:p>
          <a:p>
            <a:endParaRPr lang="en-US" altLang="ko-KR" dirty="0"/>
          </a:p>
          <a:p>
            <a:r>
              <a:rPr lang="ko-KR" altLang="en-US" dirty="0"/>
              <a:t>최적 </a:t>
            </a:r>
            <a:r>
              <a:rPr lang="en-US" altLang="ko-KR" dirty="0"/>
              <a:t>cp </a:t>
            </a:r>
            <a:r>
              <a:rPr lang="ko-KR" altLang="en-US" dirty="0"/>
              <a:t>값으로 가지치기 후 </a:t>
            </a:r>
            <a:r>
              <a:rPr lang="en-US" altLang="ko-KR" dirty="0"/>
              <a:t>(cp = 0.0065)</a:t>
            </a:r>
          </a:p>
          <a:p>
            <a:r>
              <a:rPr lang="en-US" altLang="ko-KR" dirty="0"/>
              <a:t>RMSE = 0.1438</a:t>
            </a:r>
          </a:p>
          <a:p>
            <a:r>
              <a:rPr lang="en-US" altLang="ko-KR" dirty="0"/>
              <a:t>R² = 0.6039</a:t>
            </a:r>
          </a:p>
          <a:p>
            <a:endParaRPr lang="en-US" altLang="ko-KR" dirty="0"/>
          </a:p>
          <a:p>
            <a:r>
              <a:rPr lang="en-US" altLang="ko-KR" dirty="0"/>
              <a:t>1se rule </a:t>
            </a:r>
            <a:r>
              <a:rPr lang="ko-KR" altLang="en-US" dirty="0"/>
              <a:t>적용 </a:t>
            </a:r>
            <a:r>
              <a:rPr lang="en-US" altLang="ko-KR" dirty="0"/>
              <a:t>(cp = 0.0263)</a:t>
            </a:r>
          </a:p>
          <a:p>
            <a:r>
              <a:rPr lang="en-US" altLang="ko-KR" dirty="0"/>
              <a:t>RMSE = 0.1519</a:t>
            </a:r>
          </a:p>
          <a:p>
            <a:r>
              <a:rPr lang="en-US" altLang="ko-KR" dirty="0"/>
              <a:t>R² = 0.5581</a:t>
            </a:r>
          </a:p>
          <a:p>
            <a:r>
              <a:rPr lang="ko-KR" altLang="en-US" dirty="0"/>
              <a:t>과소적합</a:t>
            </a:r>
            <a:endParaRPr lang="en-US" altLang="ko-KR" dirty="0"/>
          </a:p>
          <a:p>
            <a:endParaRPr lang="en-US" altLang="ko-KR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636420BD-6572-F954-6A61-047D348573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0109" y="4067377"/>
            <a:ext cx="4291167" cy="2644047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C9535AB4-2A9B-337E-F0A7-0478FD8F68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8192" y="1112906"/>
            <a:ext cx="4158126" cy="2768107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7E45B53F-0011-C952-C3D0-0E09B9B267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64944" y="4146657"/>
            <a:ext cx="2995573" cy="2299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97642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58D5317-1A03-E9E9-51D1-50B666AF21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600" dirty="0"/>
              <a:t>Random Forest Regression</a:t>
            </a:r>
            <a:endParaRPr lang="ko-KR" altLang="en-US" sz="36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3204D4A-82E9-7F92-718B-C3690802F0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Tuning parameters</a:t>
            </a:r>
          </a:p>
          <a:p>
            <a:r>
              <a:rPr lang="en-US" altLang="ko-KR" dirty="0" err="1"/>
              <a:t>ntree</a:t>
            </a:r>
            <a:r>
              <a:rPr lang="en-US" altLang="ko-KR" dirty="0"/>
              <a:t> = 500 (1000</a:t>
            </a:r>
            <a:r>
              <a:rPr lang="ko-KR" altLang="en-US" dirty="0"/>
              <a:t>은 성능 저하</a:t>
            </a:r>
            <a:r>
              <a:rPr lang="en-US" altLang="ko-KR" dirty="0"/>
              <a:t>)</a:t>
            </a:r>
          </a:p>
          <a:p>
            <a:r>
              <a:rPr lang="en-US" altLang="ko-KR" dirty="0" err="1"/>
              <a:t>mtry</a:t>
            </a:r>
            <a:r>
              <a:rPr lang="en-US" altLang="ko-KR" dirty="0"/>
              <a:t> = 2 (</a:t>
            </a:r>
            <a:r>
              <a:rPr lang="en-US" altLang="ko-KR" dirty="0" err="1"/>
              <a:t>tuneRF</a:t>
            </a:r>
            <a:r>
              <a:rPr lang="en-US" altLang="ko-KR" dirty="0"/>
              <a:t> </a:t>
            </a:r>
            <a:r>
              <a:rPr lang="ko-KR" altLang="en-US" dirty="0"/>
              <a:t>함수로 자동 탐색</a:t>
            </a:r>
            <a:r>
              <a:rPr lang="en-US" altLang="ko-KR" dirty="0"/>
              <a:t>)</a:t>
            </a:r>
          </a:p>
          <a:p>
            <a:r>
              <a:rPr lang="en-US" altLang="ko-KR" dirty="0" err="1"/>
              <a:t>nodesize</a:t>
            </a:r>
            <a:r>
              <a:rPr lang="en-US" altLang="ko-KR" dirty="0"/>
              <a:t> =</a:t>
            </a:r>
            <a:r>
              <a:rPr lang="ko-KR" altLang="en-US" dirty="0"/>
              <a:t> </a:t>
            </a:r>
            <a:r>
              <a:rPr lang="en-US" altLang="ko-KR" dirty="0"/>
              <a:t>3</a:t>
            </a:r>
            <a:r>
              <a:rPr lang="ko-KR" altLang="en-US" dirty="0"/>
              <a:t> </a:t>
            </a:r>
            <a:r>
              <a:rPr lang="en-US" altLang="ko-KR" dirty="0"/>
              <a:t>(1~5 </a:t>
            </a:r>
            <a:r>
              <a:rPr lang="ko-KR" altLang="en-US" dirty="0"/>
              <a:t>실험 결과 </a:t>
            </a:r>
            <a:r>
              <a:rPr lang="en-US" altLang="ko-KR" dirty="0"/>
              <a:t>RMSE </a:t>
            </a:r>
            <a:r>
              <a:rPr lang="ko-KR" altLang="en-US" dirty="0"/>
              <a:t>최소</a:t>
            </a:r>
            <a:r>
              <a:rPr lang="en-US" altLang="ko-KR" dirty="0"/>
              <a:t>)</a:t>
            </a:r>
          </a:p>
          <a:p>
            <a:endParaRPr lang="en-US" altLang="ko-KR" dirty="0"/>
          </a:p>
          <a:p>
            <a:r>
              <a:rPr lang="ko-KR" altLang="en-US" dirty="0"/>
              <a:t>예측 성능</a:t>
            </a:r>
            <a:endParaRPr lang="en-US" altLang="ko-KR" dirty="0"/>
          </a:p>
          <a:p>
            <a:r>
              <a:rPr lang="en-US" altLang="ko-KR" dirty="0"/>
              <a:t>RMSE: 0.1265</a:t>
            </a:r>
          </a:p>
          <a:p>
            <a:r>
              <a:rPr lang="en-US" altLang="ko-KR" dirty="0"/>
              <a:t>R²: 0.6936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C51FC8A2-1513-A3BB-FCC5-F739AEAB3A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81372" y="1480881"/>
            <a:ext cx="2209882" cy="1948119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942CB668-A93D-309B-E959-1A512D8606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9367" y="3496685"/>
            <a:ext cx="3971637" cy="3114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24424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070DA1-EBF9-0385-BB16-7FA09B1C51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AA7EAB3-612E-A01C-A4BB-EFE5755629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3600" dirty="0"/>
              <a:t>모델 성능 비교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401D454-1FBE-CE24-1F48-3745FDA9EF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모델 성능 요약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r>
              <a:rPr lang="ko-KR" altLang="en-US" dirty="0"/>
              <a:t>성능 비교</a:t>
            </a:r>
            <a:r>
              <a:rPr lang="en-US" altLang="ko-KR" dirty="0"/>
              <a:t>: </a:t>
            </a:r>
            <a:r>
              <a:rPr lang="en-US" altLang="ko-KR" dirty="0" err="1"/>
              <a:t>RandomForest</a:t>
            </a:r>
            <a:r>
              <a:rPr lang="en-US" altLang="ko-KR" dirty="0"/>
              <a:t> &gt; Linear Regression &gt; KNN &gt; DT</a:t>
            </a:r>
          </a:p>
          <a:p>
            <a:r>
              <a:rPr lang="en-US" altLang="ko-KR" dirty="0"/>
              <a:t>RF </a:t>
            </a:r>
            <a:r>
              <a:rPr lang="ko-KR" altLang="en-US" dirty="0"/>
              <a:t>모델이 가장 높은 성능</a:t>
            </a:r>
            <a:endParaRPr lang="en-US" altLang="ko-KR" dirty="0"/>
          </a:p>
          <a:p>
            <a:r>
              <a:rPr lang="en-US" altLang="ko-KR" dirty="0"/>
              <a:t>Linear</a:t>
            </a:r>
            <a:r>
              <a:rPr lang="ko-KR" altLang="en-US" dirty="0"/>
              <a:t> </a:t>
            </a:r>
            <a:r>
              <a:rPr lang="en-US" altLang="ko-KR" dirty="0"/>
              <a:t>Regression</a:t>
            </a:r>
            <a:r>
              <a:rPr lang="ko-KR" altLang="en-US" dirty="0"/>
              <a:t>도 </a:t>
            </a:r>
            <a:r>
              <a:rPr lang="en-US" altLang="ko-KR" dirty="0"/>
              <a:t>RF</a:t>
            </a:r>
            <a:r>
              <a:rPr lang="ko-KR" altLang="en-US" dirty="0"/>
              <a:t>와 비슷하게 우수한 성능</a:t>
            </a:r>
            <a:endParaRPr lang="en-US" altLang="ko-KR" dirty="0"/>
          </a:p>
          <a:p>
            <a:r>
              <a:rPr lang="ko-KR" altLang="en-US" dirty="0"/>
              <a:t>데이터가 선형적인 구조를</a:t>
            </a:r>
            <a:r>
              <a:rPr lang="en-US" altLang="ko-KR" dirty="0"/>
              <a:t> </a:t>
            </a:r>
            <a:r>
              <a:rPr lang="ko-KR" altLang="en-US" dirty="0"/>
              <a:t>일부 포함하고 있음을 시사</a:t>
            </a:r>
            <a:endParaRPr lang="en-US" altLang="ko-KR" dirty="0"/>
          </a:p>
          <a:p>
            <a:r>
              <a:rPr lang="en-US" altLang="ko-KR" dirty="0"/>
              <a:t>RT</a:t>
            </a:r>
            <a:r>
              <a:rPr lang="ko-KR" altLang="en-US" dirty="0"/>
              <a:t>는 데이터에 부적합한 모델 구조</a:t>
            </a:r>
            <a:r>
              <a:rPr lang="en-US" altLang="ko-KR" dirty="0"/>
              <a:t>, </a:t>
            </a:r>
            <a:r>
              <a:rPr lang="ko-KR" altLang="en-US" dirty="0"/>
              <a:t>가장 낮은 설명력</a:t>
            </a:r>
            <a:endParaRPr lang="en-US" altLang="ko-KR" dirty="0"/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3EABA265-A202-0DD0-5383-3197AE5F50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9675124"/>
              </p:ext>
            </p:extLst>
          </p:nvPr>
        </p:nvGraphicFramePr>
        <p:xfrm>
          <a:off x="1261872" y="2179012"/>
          <a:ext cx="8930275" cy="138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6055">
                  <a:extLst>
                    <a:ext uri="{9D8B030D-6E8A-4147-A177-3AD203B41FA5}">
                      <a16:colId xmlns:a16="http://schemas.microsoft.com/office/drawing/2014/main" val="1156733903"/>
                    </a:ext>
                  </a:extLst>
                </a:gridCol>
                <a:gridCol w="1786055">
                  <a:extLst>
                    <a:ext uri="{9D8B030D-6E8A-4147-A177-3AD203B41FA5}">
                      <a16:colId xmlns:a16="http://schemas.microsoft.com/office/drawing/2014/main" val="2714353996"/>
                    </a:ext>
                  </a:extLst>
                </a:gridCol>
                <a:gridCol w="1786055">
                  <a:extLst>
                    <a:ext uri="{9D8B030D-6E8A-4147-A177-3AD203B41FA5}">
                      <a16:colId xmlns:a16="http://schemas.microsoft.com/office/drawing/2014/main" val="2101476937"/>
                    </a:ext>
                  </a:extLst>
                </a:gridCol>
                <a:gridCol w="1786055">
                  <a:extLst>
                    <a:ext uri="{9D8B030D-6E8A-4147-A177-3AD203B41FA5}">
                      <a16:colId xmlns:a16="http://schemas.microsoft.com/office/drawing/2014/main" val="3196711640"/>
                    </a:ext>
                  </a:extLst>
                </a:gridCol>
                <a:gridCol w="1786055">
                  <a:extLst>
                    <a:ext uri="{9D8B030D-6E8A-4147-A177-3AD203B41FA5}">
                      <a16:colId xmlns:a16="http://schemas.microsoft.com/office/drawing/2014/main" val="277989096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KNN</a:t>
                      </a:r>
                    </a:p>
                    <a:p>
                      <a:pPr latinLnBrk="1"/>
                      <a:r>
                        <a:rPr lang="en-US" altLang="ko-KR" dirty="0"/>
                        <a:t>Regression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Linear Regression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Regression Tree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Random Forest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6064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RMSE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0.1296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0.1267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0.1438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0.1265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25816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R²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0.6782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0.6925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0.6039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0.6936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97918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139911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F004CF-CDFB-3D45-0D86-1F923D49C1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FB222ED-A284-9FD6-0F4B-69CED825EB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3600" dirty="0"/>
              <a:t>결과 해석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DDB9746-0168-E80D-501F-C79FB7D212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다양한 모델</a:t>
            </a:r>
            <a:r>
              <a:rPr lang="en-US" altLang="ko-KR" dirty="0"/>
              <a:t> </a:t>
            </a:r>
            <a:r>
              <a:rPr lang="ko-KR" altLang="en-US" dirty="0"/>
              <a:t>비교 결과</a:t>
            </a:r>
            <a:r>
              <a:rPr lang="en-US" altLang="ko-KR" dirty="0"/>
              <a:t>,</a:t>
            </a:r>
            <a:r>
              <a:rPr lang="ko-KR" altLang="en-US" dirty="0"/>
              <a:t> </a:t>
            </a:r>
            <a:r>
              <a:rPr lang="ko-KR" altLang="en-US" dirty="0" err="1"/>
              <a:t>랜덤포레스트</a:t>
            </a:r>
            <a:r>
              <a:rPr lang="ko-KR" altLang="en-US" dirty="0"/>
              <a:t> 및 선형 모델이 가장 높은 설명력을 보임</a:t>
            </a:r>
            <a:endParaRPr lang="en-US" altLang="ko-KR" dirty="0"/>
          </a:p>
          <a:p>
            <a:r>
              <a:rPr lang="ko-KR" altLang="en-US" dirty="0"/>
              <a:t>선형</a:t>
            </a:r>
            <a:r>
              <a:rPr lang="en-US" altLang="ko-KR" dirty="0"/>
              <a:t> </a:t>
            </a:r>
            <a:r>
              <a:rPr lang="ko-KR" altLang="en-US" dirty="0"/>
              <a:t>회귀 및 회귀 트리 모델에서 모두 가족 구조</a:t>
            </a:r>
            <a:r>
              <a:rPr lang="en-US" altLang="ko-KR" dirty="0"/>
              <a:t>, </a:t>
            </a:r>
            <a:r>
              <a:rPr lang="ko-KR" altLang="en-US" dirty="0"/>
              <a:t>주거 환경</a:t>
            </a:r>
            <a:r>
              <a:rPr lang="en-US" altLang="ko-KR" dirty="0"/>
              <a:t>,</a:t>
            </a:r>
            <a:r>
              <a:rPr lang="ko-KR" altLang="en-US" dirty="0"/>
              <a:t> 사회 경제적 요인 등이 폭력 </a:t>
            </a:r>
            <a:r>
              <a:rPr lang="ko-KR" altLang="en-US" dirty="0" err="1"/>
              <a:t>범죄율</a:t>
            </a:r>
            <a:r>
              <a:rPr lang="ko-KR" altLang="en-US" dirty="0"/>
              <a:t> 예측에 강한 영향</a:t>
            </a:r>
            <a:endParaRPr lang="en-US" altLang="ko-KR" dirty="0"/>
          </a:p>
          <a:p>
            <a:r>
              <a:rPr lang="ko-KR" altLang="en-US" dirty="0"/>
              <a:t>특히 </a:t>
            </a:r>
            <a:r>
              <a:rPr lang="en-US" altLang="ko-KR" dirty="0"/>
              <a:t>pct1lleg(percentage of kids born to never married)</a:t>
            </a:r>
            <a:r>
              <a:rPr lang="ko-KR" altLang="en-US" dirty="0"/>
              <a:t>은 모든 모델에서 가장 강력한 영향</a:t>
            </a:r>
            <a:endParaRPr lang="en-US" altLang="ko-KR" dirty="0"/>
          </a:p>
          <a:p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2EE6BAB-7A86-B503-1AFD-5077A9BD80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37505" y="3776125"/>
            <a:ext cx="4158126" cy="2768107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F098EF95-E582-3518-5C66-225FD2EBF8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3242" y="3776125"/>
            <a:ext cx="2955557" cy="2532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52641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BB47FD-61F7-FB20-E865-ED3425A3F7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5B86C07-679F-E09F-779A-D720E0A934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3600" dirty="0"/>
              <a:t>시사점 및 소감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20A78A5-658A-2056-0F22-4ED7C2A74D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시사점</a:t>
            </a:r>
            <a:endParaRPr lang="en-US" altLang="ko-KR" dirty="0"/>
          </a:p>
          <a:p>
            <a:r>
              <a:rPr lang="en-US" altLang="ko-KR" dirty="0"/>
              <a:t>lasso </a:t>
            </a:r>
            <a:r>
              <a:rPr lang="ko-KR" altLang="en-US" dirty="0"/>
              <a:t>변수 선택 시 </a:t>
            </a:r>
            <a:r>
              <a:rPr lang="en-US" altLang="ko-KR" dirty="0" err="1"/>
              <a:t>lambda.min+PCA</a:t>
            </a:r>
            <a:r>
              <a:rPr lang="ko-KR" altLang="en-US" dirty="0"/>
              <a:t>로 진행할 경우 성능 및 해석 결과의 변화</a:t>
            </a:r>
            <a:r>
              <a:rPr lang="en-US" altLang="ko-KR" dirty="0"/>
              <a:t>?</a:t>
            </a:r>
          </a:p>
          <a:p>
            <a:r>
              <a:rPr lang="ko-KR" altLang="en-US" dirty="0"/>
              <a:t>선형</a:t>
            </a:r>
            <a:r>
              <a:rPr lang="en-US" altLang="ko-KR" dirty="0"/>
              <a:t> </a:t>
            </a:r>
            <a:r>
              <a:rPr lang="ko-KR" altLang="en-US" dirty="0"/>
              <a:t>회귀 및 </a:t>
            </a:r>
            <a:r>
              <a:rPr lang="ko-KR" altLang="en-US" dirty="0" err="1"/>
              <a:t>랜덤포레스트에서</a:t>
            </a:r>
            <a:r>
              <a:rPr lang="ko-KR" altLang="en-US" dirty="0"/>
              <a:t> </a:t>
            </a:r>
            <a:r>
              <a:rPr lang="ko-KR" altLang="en-US" dirty="0" err="1"/>
              <a:t>극단값</a:t>
            </a:r>
            <a:r>
              <a:rPr lang="ko-KR" altLang="en-US" dirty="0"/>
              <a:t> 과소 예측</a:t>
            </a:r>
            <a:endParaRPr lang="en-US" altLang="ko-KR" dirty="0"/>
          </a:p>
          <a:p>
            <a:r>
              <a:rPr lang="en-US" altLang="ko-KR" dirty="0"/>
              <a:t>-&gt; </a:t>
            </a:r>
            <a:r>
              <a:rPr lang="ko-KR" altLang="en-US" dirty="0"/>
              <a:t>모델</a:t>
            </a:r>
            <a:r>
              <a:rPr lang="en-US" altLang="ko-KR" dirty="0"/>
              <a:t> </a:t>
            </a:r>
            <a:r>
              <a:rPr lang="ko-KR" altLang="en-US" dirty="0"/>
              <a:t>구조</a:t>
            </a:r>
            <a:r>
              <a:rPr lang="en-US" altLang="ko-KR" dirty="0"/>
              <a:t>, </a:t>
            </a:r>
            <a:r>
              <a:rPr lang="ko-KR" altLang="en-US" dirty="0"/>
              <a:t>데이터 분포</a:t>
            </a:r>
            <a:r>
              <a:rPr lang="en-US" altLang="ko-KR" dirty="0"/>
              <a:t>, </a:t>
            </a:r>
            <a:r>
              <a:rPr lang="ko-KR" altLang="en-US" dirty="0"/>
              <a:t>변수 한계 등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 err="1"/>
              <a:t>느낀점</a:t>
            </a:r>
            <a:endParaRPr lang="en-US" altLang="ko-KR" dirty="0"/>
          </a:p>
          <a:p>
            <a:r>
              <a:rPr lang="ko-KR" altLang="en-US" dirty="0"/>
              <a:t>데이터 분석 목적에 따라 결측 변수의 활용 여부가 달라질 수 있음</a:t>
            </a:r>
            <a:endParaRPr lang="en-US" altLang="ko-KR" dirty="0"/>
          </a:p>
          <a:p>
            <a:r>
              <a:rPr lang="ko-KR" altLang="en-US" dirty="0"/>
              <a:t>분석 모델의 </a:t>
            </a:r>
            <a:r>
              <a:rPr lang="ko-KR" altLang="en-US" dirty="0" err="1"/>
              <a:t>해석력과</a:t>
            </a:r>
            <a:r>
              <a:rPr lang="ko-KR" altLang="en-US" dirty="0"/>
              <a:t> 성능 간의 </a:t>
            </a:r>
            <a:r>
              <a:rPr lang="en-US" altLang="ko-KR" dirty="0"/>
              <a:t>trade-off</a:t>
            </a:r>
            <a:r>
              <a:rPr lang="ko-KR" altLang="en-US" dirty="0"/>
              <a:t> 고려 필요</a:t>
            </a:r>
            <a:endParaRPr lang="en-US" altLang="ko-KR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BB9CB73A-3D8B-80FD-0560-1A43CF3F29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1345" y="2747865"/>
            <a:ext cx="2224126" cy="1683403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96804289-03CE-96A8-BDB8-904BE0ADFB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85471" y="2747865"/>
            <a:ext cx="2372050" cy="1683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166634"/>
      </p:ext>
    </p:extLst>
  </p:cSld>
  <p:clrMapOvr>
    <a:masterClrMapping/>
  </p:clrMapOvr>
</p:sld>
</file>

<file path=ppt/theme/theme1.xml><?xml version="1.0" encoding="utf-8"?>
<a:theme xmlns:a="http://schemas.openxmlformats.org/drawingml/2006/main" name="보기">
  <a:themeElements>
    <a:clrScheme name="보기">
      <a:dk1>
        <a:srgbClr val="000000"/>
      </a:dk1>
      <a:lt1>
        <a:srgbClr val="FFFFFF"/>
      </a:lt1>
      <a:dk2>
        <a:srgbClr val="46464A"/>
      </a:dk2>
      <a:lt2>
        <a:srgbClr val="D6D3CC"/>
      </a:lt2>
      <a:accent1>
        <a:srgbClr val="6F6F74"/>
      </a:accent1>
      <a:accent2>
        <a:srgbClr val="92A9B9"/>
      </a:accent2>
      <a:accent3>
        <a:srgbClr val="A7B789"/>
      </a:accent3>
      <a:accent4>
        <a:srgbClr val="B9A489"/>
      </a:accent4>
      <a:accent5>
        <a:srgbClr val="8D6374"/>
      </a:accent5>
      <a:accent6>
        <a:srgbClr val="9B7362"/>
      </a:accent6>
      <a:hlink>
        <a:srgbClr val="67AABF"/>
      </a:hlink>
      <a:folHlink>
        <a:srgbClr val="ABAFA5"/>
      </a:folHlink>
    </a:clrScheme>
    <a:fontScheme name="보기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보기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6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3969A8A2-35DB-4E3B-8885-16FD2056867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TM03457515[[fn=보기]]</Template>
  <TotalTime>987</TotalTime>
  <Words>653</Words>
  <Application>Microsoft Office PowerPoint</Application>
  <PresentationFormat>와이드스크린</PresentationFormat>
  <Paragraphs>143</Paragraphs>
  <Slides>13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19" baseType="lpstr">
      <vt:lpstr>ui-sans-serif</vt:lpstr>
      <vt:lpstr>맑은 고딕</vt:lpstr>
      <vt:lpstr>Arial</vt:lpstr>
      <vt:lpstr>Century Schoolbook</vt:lpstr>
      <vt:lpstr>Wingdings 2</vt:lpstr>
      <vt:lpstr>보기</vt:lpstr>
      <vt:lpstr>미국 지역 특성을 활용한   폭력 범죄율 예측 분석 </vt:lpstr>
      <vt:lpstr>목차</vt:lpstr>
      <vt:lpstr>데이터셋 개요</vt:lpstr>
      <vt:lpstr>주요 변수</vt:lpstr>
      <vt:lpstr>데이터 전처리</vt:lpstr>
      <vt:lpstr>데이터 전처리</vt:lpstr>
      <vt:lpstr>KNN Regression</vt:lpstr>
      <vt:lpstr>Linear Regrssion</vt:lpstr>
      <vt:lpstr>Regression Tree</vt:lpstr>
      <vt:lpstr>Random Forest Regression</vt:lpstr>
      <vt:lpstr>모델 성능 비교</vt:lpstr>
      <vt:lpstr>결과 해석</vt:lpstr>
      <vt:lpstr>시사점 및 소감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Ichan Kim</dc:creator>
  <cp:lastModifiedBy>Ichan Kim</cp:lastModifiedBy>
  <cp:revision>9</cp:revision>
  <dcterms:created xsi:type="dcterms:W3CDTF">2025-06-14T05:57:37Z</dcterms:created>
  <dcterms:modified xsi:type="dcterms:W3CDTF">2025-06-15T07:22:56Z</dcterms:modified>
</cp:coreProperties>
</file>